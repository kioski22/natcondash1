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3" roundtripDataSignature="AMtx7mjZCJlcrK7B/of70bdDPYternKb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23" Type="http://customschemas.google.com/relationships/presentationmetadata" Target="metadata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42b269b9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842b269b97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9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0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83c451ce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g383c451ce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7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117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7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7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cut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8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3" name="Google Shape;23;p118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Rockwell"/>
              <a:buNone/>
              <a:defRPr b="1"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8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25" name="Google Shape;25;p118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26" name="Google Shape;26;p118"/>
            <p:cNvSpPr/>
            <p:nvPr/>
          </p:nvSpPr>
          <p:spPr>
            <a:xfrm>
              <a:off x="1687513" y="4832896"/>
              <a:ext cx="7456487" cy="51881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" name="Google Shape;27;p118"/>
            <p:cNvSpPr/>
            <p:nvPr/>
          </p:nvSpPr>
          <p:spPr>
            <a:xfrm>
              <a:off x="35443" y="5135526"/>
              <a:ext cx="9108557" cy="838200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8" name="Google Shape;28;p118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cxnSp>
          <p:nvCxnSpPr>
            <p:cNvPr id="29" name="Google Shape;29;p118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cap="flat" cmpd="sng" w="12050">
              <a:solidFill>
                <a:srgbClr val="93C5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0" name="Google Shape;30;p118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8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8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Rockwell"/>
              <a:buNone/>
              <a:defRPr b="1" sz="4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6" name="Google Shape;36;p119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9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9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19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0" name="Google Shape;40;p119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slow">
    <p:cut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0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120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4" name="Google Shape;44;p120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0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0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cut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1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1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121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" name="Google Shape;52;p121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21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" name="Google Shape;54;p121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1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1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2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2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2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cut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3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3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3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blipFill rotWithShape="1">
          <a:blip r:embed="rId2">
            <a:alphaModFix/>
          </a:blip>
          <a:tile algn="tl" flip="none" tx="0" sx="50000" ty="0" sy="50000"/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4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Rockwell"/>
              <a:buNone/>
              <a:defRPr b="0" sz="25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4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124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124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4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4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b="100%" l="100%" r="0%" t="0%"/>
          </a:path>
          <a:tileRect b="0%" l="0%" r="-100%" t="-100%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5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" name="Google Shape;75;p125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25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5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5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r">
              <a:spcBef>
                <a:spcPts val="0"/>
              </a:spcBef>
              <a:buNone/>
              <a:defRPr b="0" sz="10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25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ckwell"/>
              <a:buNone/>
              <a:defRPr b="0"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5"/>
          <p:cNvSpPr/>
          <p:nvPr/>
        </p:nvSpPr>
        <p:spPr>
          <a:xfrm>
            <a:off x="499273" y="5944936"/>
            <a:ext cx="4940624" cy="921076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1" name="Google Shape;81;p125"/>
          <p:cNvSpPr/>
          <p:nvPr/>
        </p:nvSpPr>
        <p:spPr>
          <a:xfrm>
            <a:off x="485717" y="5939011"/>
            <a:ext cx="3690451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2" name="Google Shape;82;p125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83" name="Google Shape;83;p125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" name="Google Shape;84;p125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5" name="Google Shape;85;p125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cap="rnd" cmpd="sng" w="9525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  <p:transition spd="slow">
    <p:cut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6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26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6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6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7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7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5" name="Google Shape;95;p127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7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7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cut thruBlk="1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6"/>
          <p:cNvSpPr/>
          <p:nvPr/>
        </p:nvSpPr>
        <p:spPr>
          <a:xfrm>
            <a:off x="499273" y="5944936"/>
            <a:ext cx="4940624" cy="921076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" name="Google Shape;7;p116"/>
          <p:cNvSpPr/>
          <p:nvPr/>
        </p:nvSpPr>
        <p:spPr>
          <a:xfrm>
            <a:off x="485717" y="5939011"/>
            <a:ext cx="3690451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8" name="Google Shape;8;p116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9" name="Google Shape;9;p116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cap="flat" cmpd="sng" w="12050">
            <a:solidFill>
              <a:srgbClr val="93C5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" name="Google Shape;10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  <a:defRPr b="1" i="0" sz="41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6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74650" lvl="1" marL="914400" marR="0" rtl="0" algn="l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116"/>
          <p:cNvSpPr txBox="1"/>
          <p:nvPr>
            <p:ph idx="10" type="dt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116"/>
          <p:cNvSpPr txBox="1"/>
          <p:nvPr>
            <p:ph idx="11" type="ftr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4" name="Google Shape;14;p116"/>
          <p:cNvSpPr txBox="1"/>
          <p:nvPr>
            <p:ph idx="12" type="sldNum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00" u="non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cut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8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6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6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1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4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4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0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9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8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8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70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6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6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72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76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3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8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1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89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84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8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78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92.jp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88.jp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85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95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97.jp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96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90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6528"/>
              <a:buNone/>
            </a:pPr>
            <a:r>
              <a:rPr b="1" lang="en-US" sz="9600">
                <a:solidFill>
                  <a:srgbClr val="F1B241"/>
                </a:solidFill>
              </a:rPr>
              <a:t>PLATINUM SPONSOR’S</a:t>
            </a:r>
            <a:endParaRPr sz="9600">
              <a:solidFill>
                <a:srgbClr val="F1B241"/>
              </a:solidFill>
            </a:endParaRPr>
          </a:p>
        </p:txBody>
      </p:sp>
    </p:spTree>
  </p:cSld>
  <p:clrMapOvr>
    <a:masterClrMapping/>
  </p:clrMapOvr>
  <p:transition spd="slow">
    <p:cut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7952" y="1762747"/>
            <a:ext cx="4048095" cy="396274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INDUSTRIAL CONTROL SYSTEMS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INTEGRAL INDUSTRIAL MANAGEMENT CORPORATION</a:t>
            </a:r>
            <a:endParaRPr/>
          </a:p>
        </p:txBody>
      </p:sp>
      <p:pic>
        <p:nvPicPr>
          <p:cNvPr id="114" name="Google Shape;11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83286"/>
            <a:ext cx="8229600" cy="3721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752600"/>
            <a:ext cx="4525962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POWERFLO SOLUTIONS (ASIA) PTY LTD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9968" y="2072291"/>
            <a:ext cx="5084064" cy="3343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ATLAS COPO (PHILIPPINES)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SY3 ENERGY MAINTENANCE SERVICES  CORPORATION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419" y="925910"/>
            <a:ext cx="5006181" cy="5006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274638"/>
            <a:ext cx="86868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APPLIED THERMAL TECHNOLOGY SOLUTION, CORP. ( CLIVET PHILIPPINES)</a:t>
            </a:r>
            <a:endParaRPr/>
          </a:p>
        </p:txBody>
      </p:sp>
      <p:pic>
        <p:nvPicPr>
          <p:cNvPr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96978"/>
            <a:ext cx="9144000" cy="2264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HITACHI</a:t>
            </a:r>
            <a:endParaRPr/>
          </a:p>
        </p:txBody>
      </p:sp>
      <p:pic>
        <p:nvPicPr>
          <p:cNvPr id="144" name="Google Shape;144;p8" title="Hitachi Logo_100blac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07523"/>
            <a:ext cx="8839196" cy="143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INGERSOLL-RAND</a:t>
            </a:r>
            <a:endParaRPr/>
          </a:p>
        </p:txBody>
      </p:sp>
      <p:pic>
        <p:nvPicPr>
          <p:cNvPr descr="A red text on a black background&#10;&#10;Description automatically generated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04599"/>
            <a:ext cx="8077200" cy="176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CONCEPCION CARRIER AIRCONDITONING CO.</a:t>
            </a:r>
            <a:endParaRPr/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76400"/>
            <a:ext cx="8229600" cy="4403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6528"/>
              <a:buNone/>
            </a:pPr>
            <a:r>
              <a:rPr b="1" lang="en-US" sz="9600">
                <a:solidFill>
                  <a:srgbClr val="F1B241"/>
                </a:solidFill>
              </a:rPr>
              <a:t>      GOLD SPONSOR’S</a:t>
            </a:r>
            <a:endParaRPr sz="9600">
              <a:solidFill>
                <a:srgbClr val="F1B241"/>
              </a:solidFill>
            </a:endParaRPr>
          </a:p>
        </p:txBody>
      </p:sp>
    </p:spTree>
  </p:cSld>
  <p:clrMapOvr>
    <a:masterClrMapping/>
  </p:clrMapOvr>
  <p:transition spd="slow">
    <p:cut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UNIVERSAL TECHNO PIPING</a:t>
            </a:r>
            <a:endParaRPr/>
          </a:p>
        </p:txBody>
      </p:sp>
      <p:pic>
        <p:nvPicPr>
          <p:cNvPr id="167" name="Google Shape;167;p12" title="d80b5031-2717-49de-a55d-eca02ccc08c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2375" y="1158923"/>
            <a:ext cx="4599250" cy="459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DUNHAM BUSH PHIL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5984"/>
              <a:buNone/>
            </a:pPr>
            <a:r>
              <a:rPr b="1" lang="en-US" sz="8800">
                <a:solidFill>
                  <a:srgbClr val="F1B241"/>
                </a:solidFill>
              </a:rPr>
              <a:t>     SILVER   SPONSOR’S</a:t>
            </a:r>
            <a:endParaRPr sz="8000"/>
          </a:p>
        </p:txBody>
      </p:sp>
    </p:spTree>
  </p:cSld>
  <p:clrMapOvr>
    <a:masterClrMapping/>
  </p:clrMapOvr>
  <p:transition spd="slow">
    <p:cut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GRUNTECHNOLOGY CORP</a:t>
            </a:r>
            <a:endParaRPr/>
          </a:p>
        </p:txBody>
      </p:sp>
      <p:pic>
        <p:nvPicPr>
          <p:cNvPr id="183" name="Google Shape;183;p15" title="GRUNTECHNOLOGY CORPORATION LOGO (FOR 73RD PSME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501" y="1417649"/>
            <a:ext cx="6371000" cy="450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68015"/>
            <a:ext cx="8229600" cy="175220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BEARING CENTER &amp; MACHINERY,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457200" y="274638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Rockwell"/>
              <a:buNone/>
            </a:pPr>
            <a:r>
              <a:rPr lang="en-US" sz="3600"/>
              <a:t>       SUPREME STEEL PIPE CORP</a:t>
            </a:r>
            <a:endParaRPr/>
          </a:p>
        </p:txBody>
      </p:sp>
      <p:pic>
        <p:nvPicPr>
          <p:cNvPr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905000"/>
            <a:ext cx="4724400" cy="3650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WATER-CHEM SOLUTIONS INDUSTRIES INC.</a:t>
            </a:r>
            <a:endParaRPr/>
          </a:p>
        </p:txBody>
      </p:sp>
      <p:pic>
        <p:nvPicPr>
          <p:cNvPr id="201" name="Google Shape;201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45137"/>
            <a:ext cx="8229600" cy="279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P.T CERNA CORPORATION</a:t>
            </a:r>
            <a:br>
              <a:rPr lang="en-US"/>
            </a:br>
            <a:endParaRPr/>
          </a:p>
        </p:txBody>
      </p:sp>
      <p:pic>
        <p:nvPicPr>
          <p:cNvPr descr="A red text on a black background&#10;&#10;Description automatically generated" id="207" name="Google Shape;20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RUREX FABRICATION AND TRADING CO., INC.</a:t>
            </a:r>
            <a:endParaRPr/>
          </a:p>
        </p:txBody>
      </p:sp>
      <p:pic>
        <p:nvPicPr>
          <p:cNvPr descr="A blue and white text&#10;&#10;Description automatically generated"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86000"/>
            <a:ext cx="8327133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FIRST-AVPR VENTURE, INC.</a:t>
            </a:r>
            <a:endParaRPr/>
          </a:p>
        </p:txBody>
      </p:sp>
      <p:pic>
        <p:nvPicPr>
          <p:cNvPr descr="A blue oval with white text&#10;&#10;Description automatically generated"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2279" y="1594100"/>
            <a:ext cx="4599441" cy="366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ULTIMIND CORP.</a:t>
            </a:r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4620" y="1590341"/>
            <a:ext cx="3734759" cy="367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42b269b97_0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CONCEPCION MIDEA INC.</a:t>
            </a:r>
            <a:endParaRPr/>
          </a:p>
        </p:txBody>
      </p:sp>
      <p:pic>
        <p:nvPicPr>
          <p:cNvPr id="231" name="Google Shape;231;g3842b269b97_0_6" title="CONCEPCION MIDEA - LOGO_Blue backgrou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1288" y="1986513"/>
            <a:ext cx="4281424" cy="288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SERVLINK</a:t>
            </a:r>
            <a:endParaRPr/>
          </a:p>
        </p:txBody>
      </p:sp>
      <p:pic>
        <p:nvPicPr>
          <p:cNvPr descr="A logo with a green roof and a gear&#10;&#10;Description automatically generated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3091" y="1905000"/>
            <a:ext cx="6557817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MIURA SINGAPORE CO PTE., LTD. PHILIPPINE BRANCH</a:t>
            </a:r>
            <a:endParaRPr/>
          </a:p>
        </p:txBody>
      </p:sp>
      <p:pic>
        <p:nvPicPr>
          <p:cNvPr descr="A blue and white logo&#10;&#10;Description automatically generated" id="243" name="Google Shape;243;p24"/>
          <p:cNvPicPr preferRelativeResize="0"/>
          <p:nvPr/>
        </p:nvPicPr>
        <p:blipFill rotWithShape="1">
          <a:blip r:embed="rId3">
            <a:alphaModFix/>
          </a:blip>
          <a:srcRect b="35691" l="0" r="0" t="37642"/>
          <a:stretch/>
        </p:blipFill>
        <p:spPr>
          <a:xfrm>
            <a:off x="1066800" y="2667000"/>
            <a:ext cx="6858000" cy="1828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BYD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CLK SUPERTOOLS DEPOT INC. </a:t>
            </a:r>
            <a:endParaRPr/>
          </a:p>
        </p:txBody>
      </p:sp>
      <p:pic>
        <p:nvPicPr>
          <p:cNvPr descr="A red and white logo&#10;&#10;Description automatically generated" id="254" name="Google Shape;254;p26"/>
          <p:cNvPicPr preferRelativeResize="0"/>
          <p:nvPr/>
        </p:nvPicPr>
        <p:blipFill rotWithShape="1">
          <a:blip r:embed="rId3">
            <a:alphaModFix/>
          </a:blip>
          <a:srcRect b="7818" l="2481" r="2480" t="7819"/>
          <a:stretch/>
        </p:blipFill>
        <p:spPr>
          <a:xfrm>
            <a:off x="914400" y="2286000"/>
            <a:ext cx="7315200" cy="22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idx="1" type="body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5984"/>
              <a:buNone/>
            </a:pPr>
            <a:r>
              <a:rPr b="1" lang="en-US" sz="8800">
                <a:solidFill>
                  <a:srgbClr val="F1B241"/>
                </a:solidFill>
              </a:rPr>
              <a:t>    BRONZE   SPONSOR’S</a:t>
            </a:r>
            <a:endParaRPr sz="8000"/>
          </a:p>
        </p:txBody>
      </p:sp>
    </p:spTree>
  </p:cSld>
  <p:clrMapOvr>
    <a:masterClrMapping/>
  </p:clrMapOvr>
  <p:transition spd="slow">
    <p:cut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6858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UNITED FAR EAST COMPANY INC</a:t>
            </a:r>
            <a:endParaRPr/>
          </a:p>
        </p:txBody>
      </p:sp>
      <p:pic>
        <p:nvPicPr>
          <p:cNvPr descr="A black and white sign with red text&#10;&#10;Description automatically generated" id="265" name="Google Shape;26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428" y="1481138"/>
            <a:ext cx="7389144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ACASALES TECHNOLOGIES INC.</a:t>
            </a:r>
            <a:endParaRPr/>
          </a:p>
        </p:txBody>
      </p:sp>
      <p:pic>
        <p:nvPicPr>
          <p:cNvPr descr="A circular logo with a letter and a logo&#10;&#10;Description automatically generated"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447800"/>
            <a:ext cx="44196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ICALSYS INC</a:t>
            </a:r>
            <a:endParaRPr/>
          </a:p>
        </p:txBody>
      </p:sp>
      <p:pic>
        <p:nvPicPr>
          <p:cNvPr id="277" name="Google Shape;277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55212"/>
            <a:ext cx="8229600" cy="2777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SPECTRUM SCIENTIFIC CORPORATION</a:t>
            </a:r>
            <a:endParaRPr/>
          </a:p>
        </p:txBody>
      </p:sp>
      <p:pic>
        <p:nvPicPr>
          <p:cNvPr id="283" name="Google Shape;283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24740"/>
            <a:ext cx="8229600" cy="3438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374662"/>
            <a:ext cx="8229600" cy="27389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ARIZONA INTEGRATED TECHNOLOGY.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80157"/>
            <a:ext cx="8229600" cy="172792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FLOWTECH INDUSTRIAL SALES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752600"/>
            <a:ext cx="4000570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4"/>
          <p:cNvSpPr txBox="1"/>
          <p:nvPr>
            <p:ph type="title"/>
          </p:nvPr>
        </p:nvSpPr>
        <p:spPr>
          <a:xfrm>
            <a:off x="457200" y="274638"/>
            <a:ext cx="8229600" cy="1554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THERMAX ENERGY &amp; ENVIRONMENT PHILIPPINES CORP.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FH COMMERCIAL INC.</a:t>
            </a:r>
            <a:endParaRPr/>
          </a:p>
        </p:txBody>
      </p:sp>
      <p:pic>
        <p:nvPicPr>
          <p:cNvPr id="307" name="Google Shape;30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1" y="1976223"/>
            <a:ext cx="3916712" cy="2765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ELECTRO CHEM MKTG. INDUSTRIAL CORP.</a:t>
            </a:r>
            <a:br>
              <a:rPr lang="en-US"/>
            </a:br>
            <a:endParaRPr/>
          </a:p>
        </p:txBody>
      </p:sp>
      <p:pic>
        <p:nvPicPr>
          <p:cNvPr id="313" name="Google Shape;313;p36" title="EMIC_LOGO_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24" y="2391526"/>
            <a:ext cx="7567375" cy="236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RIC AIRTECH INDUSYS INC.</a:t>
            </a:r>
            <a:endParaRPr/>
          </a:p>
        </p:txBody>
      </p:sp>
      <p:pic>
        <p:nvPicPr>
          <p:cNvPr descr="A logo for a company&#10;&#10;Description automatically generated" id="319" name="Google Shape;3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65682"/>
            <a:ext cx="8382000" cy="3326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882" y="1905000"/>
            <a:ext cx="6286235" cy="3771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P.T. CERNA CORPORATION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JET TECH ENERGY &amp; CONSTRUCTION GROUP INC.</a:t>
            </a:r>
            <a:endParaRPr/>
          </a:p>
        </p:txBody>
      </p:sp>
      <p:pic>
        <p:nvPicPr>
          <p:cNvPr id="331" name="Google Shape;33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191029"/>
            <a:ext cx="8229600" cy="2475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ALL TOOLS INDUSTRIAL SALES AND SERVICES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T’SYS INDUSTRIAL CONTROLS INC.</a:t>
            </a:r>
            <a:endParaRPr/>
          </a:p>
        </p:txBody>
      </p:sp>
      <p:pic>
        <p:nvPicPr>
          <p:cNvPr id="342" name="Google Shape;34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MARTECH BOILER</a:t>
            </a:r>
            <a:endParaRPr/>
          </a:p>
        </p:txBody>
      </p:sp>
      <p:pic>
        <p:nvPicPr>
          <p:cNvPr id="348" name="Google Shape;34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863" y="2360056"/>
            <a:ext cx="6922274" cy="2137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CTHVAC INTERNATIONAL SALES AND SERVICES INC.</a:t>
            </a:r>
            <a:endParaRPr/>
          </a:p>
        </p:txBody>
      </p:sp>
      <p:pic>
        <p:nvPicPr>
          <p:cNvPr descr="A logo on a black background&#10;&#10;Description automatically generated" id="354" name="Google Shape;3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MOTO LUBRICANT AND POWWER SERVICES INC.</a:t>
            </a:r>
            <a:endParaRPr/>
          </a:p>
        </p:txBody>
      </p:sp>
      <p:pic>
        <p:nvPicPr>
          <p:cNvPr descr="A black text on a white background&#10;&#10;Description automatically generated" id="360" name="Google Shape;3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" y="2557272"/>
            <a:ext cx="8119872" cy="1743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MOTO INDUSTRIAL TRADERS CORPORATION</a:t>
            </a:r>
            <a:endParaRPr/>
          </a:p>
        </p:txBody>
      </p:sp>
      <p:pic>
        <p:nvPicPr>
          <p:cNvPr descr="A black and red text&#10;&#10;Description automatically generated" id="366" name="Google Shape;36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333" y="2948047"/>
            <a:ext cx="7533333" cy="961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FUJI ELECTRIC PHILIPPINES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UNIQUEV INDUSTRIAL CORPORATION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8"/>
          <p:cNvSpPr txBox="1"/>
          <p:nvPr>
            <p:ph type="title"/>
          </p:nvPr>
        </p:nvSpPr>
        <p:spPr>
          <a:xfrm>
            <a:off x="457200" y="274638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SEMEQ SERVICOS DE MONITORAMENTO DE EQUIPMENTOS LTDA</a:t>
            </a:r>
            <a:endParaRPr/>
          </a:p>
        </p:txBody>
      </p:sp>
      <p:pic>
        <p:nvPicPr>
          <p:cNvPr descr="A logo with text on it&#10;&#10;Description automatically generated" id="382" name="Google Shape;3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649" y="2171700"/>
            <a:ext cx="7994701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HERKINGS CORPORATION</a:t>
            </a:r>
            <a:endParaRPr/>
          </a:p>
        </p:txBody>
      </p:sp>
      <p:pic>
        <p:nvPicPr>
          <p:cNvPr id="388" name="Google Shape;38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2791" y="2101674"/>
            <a:ext cx="3458418" cy="2654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logo with blue text&#10;&#10;Description automatically generated" id="393" name="Google Shape;39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00125"/>
            <a:ext cx="8001000" cy="5000623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TOUCHCORE SOLUTIONS, INC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MCKUPLER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JUPP &amp; COMPANY INC.</a:t>
            </a:r>
            <a:endParaRPr/>
          </a:p>
        </p:txBody>
      </p:sp>
      <p:pic>
        <p:nvPicPr>
          <p:cNvPr id="405" name="Google Shape;40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2413827"/>
            <a:ext cx="6019800" cy="2030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JAPAN PARTS TRADING CENTER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RENCOR REFRIGERATION EQUIPMENT CORPORATION</a:t>
            </a:r>
            <a:endParaRPr/>
          </a:p>
        </p:txBody>
      </p:sp>
      <p:pic>
        <p:nvPicPr>
          <p:cNvPr id="416" name="Google Shape;41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790" y="1489675"/>
            <a:ext cx="5800420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ENERGYCHEM INDUSTRY INC.</a:t>
            </a:r>
            <a:endParaRPr/>
          </a:p>
        </p:txBody>
      </p:sp>
      <p:pic>
        <p:nvPicPr>
          <p:cNvPr descr="A black background with red and green squares&#10;&#10;Description automatically generated" id="422" name="Google Shape;42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7447" y="2283330"/>
            <a:ext cx="5209106" cy="266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SHETSU WELLNESS CO.</a:t>
            </a:r>
            <a:endParaRPr/>
          </a:p>
        </p:txBody>
      </p:sp>
      <p:pic>
        <p:nvPicPr>
          <p:cNvPr descr="A black background with a black square&#10;&#10;Description automatically generated with medium confidence" id="428" name="Google Shape;4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WELLWAVE CO. </a:t>
            </a:r>
            <a:endParaRPr/>
          </a:p>
        </p:txBody>
      </p:sp>
      <p:pic>
        <p:nvPicPr>
          <p:cNvPr descr="A blue and black text&#10;&#10;Description automatically generated with medium confidence" id="434" name="Google Shape;43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454626"/>
            <a:ext cx="7772400" cy="194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HYPER KEM AND MACHINERIES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CHOMAR UNITRADE SERVICES CO., LTD.</a:t>
            </a:r>
            <a:endParaRPr/>
          </a:p>
        </p:txBody>
      </p:sp>
      <p:pic>
        <p:nvPicPr>
          <p:cNvPr descr="A logo with blue and green circles and dots&#10;&#10;Description automatically generated" id="445" name="Google Shape;4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4300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BSDP INDUSTRIAL SUPPLY INC.</a:t>
            </a:r>
            <a:endParaRPr/>
          </a:p>
        </p:txBody>
      </p:sp>
      <p:pic>
        <p:nvPicPr>
          <p:cNvPr descr="A black and white logo&#10;&#10;Description automatically generated" id="451" name="Google Shape;45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471" y="1141471"/>
            <a:ext cx="4575057" cy="4575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TRIGON MANAGEMENT &amp; INDUSTRIAL CORPORATION</a:t>
            </a:r>
            <a:endParaRPr/>
          </a:p>
        </p:txBody>
      </p:sp>
      <p:pic>
        <p:nvPicPr>
          <p:cNvPr descr="A blue and red logo&#10;&#10;Description automatically generated" id="457" name="Google Shape;45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400" y="2133600"/>
            <a:ext cx="720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APEX PLASTIC PIPING SUPPLY AND SERVICES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HYDRAUTECHNIK, INC.</a:t>
            </a:r>
            <a:endParaRPr/>
          </a:p>
        </p:txBody>
      </p:sp>
      <p:pic>
        <p:nvPicPr>
          <p:cNvPr descr="A yellow drop of oil with a gear&#10;&#10;Description automatically generated" id="468" name="Google Shape;46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13" y="1541487"/>
            <a:ext cx="3440387" cy="4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BSDP INDUSTRIAL SUPPLY INC.</a:t>
            </a:r>
            <a:endParaRPr/>
          </a:p>
        </p:txBody>
      </p:sp>
      <p:pic>
        <p:nvPicPr>
          <p:cNvPr id="474" name="Google Shape;474;p64" title="BSDP PROFILE_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575" y="1703422"/>
            <a:ext cx="3888851" cy="388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TECHNO MECH INDUSTRIAL CORP</a:t>
            </a:r>
            <a:endParaRPr/>
          </a:p>
        </p:txBody>
      </p:sp>
      <p:pic>
        <p:nvPicPr>
          <p:cNvPr descr="A person working on a machine&#10;&#10;Description automatically generated" id="480" name="Google Shape;48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1295400"/>
            <a:ext cx="7086600" cy="5011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EPIT CO. LTD</a:t>
            </a:r>
            <a:endParaRPr/>
          </a:p>
        </p:txBody>
      </p:sp>
      <p:pic>
        <p:nvPicPr>
          <p:cNvPr id="486" name="Google Shape;486;p66" title="EPiT-Company 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4378"/>
            <a:ext cx="8839199" cy="255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GRIDPOINT TECHNOLOGIES INC.</a:t>
            </a:r>
            <a:endParaRPr/>
          </a:p>
        </p:txBody>
      </p:sp>
      <p:pic>
        <p:nvPicPr>
          <p:cNvPr id="492" name="Google Shape;492;p67" title="Klima Optima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78648"/>
            <a:ext cx="8839204" cy="1847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8"/>
          <p:cNvSpPr txBox="1"/>
          <p:nvPr>
            <p:ph idx="1" type="body"/>
          </p:nvPr>
        </p:nvSpPr>
        <p:spPr>
          <a:xfrm>
            <a:off x="533400" y="1905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09728" rtl="0" algn="l">
              <a:spcBef>
                <a:spcPts val="0"/>
              </a:spcBef>
              <a:spcAft>
                <a:spcPts val="0"/>
              </a:spcAft>
              <a:buSzPts val="5440"/>
              <a:buNone/>
            </a:pPr>
            <a:r>
              <a:rPr b="1" lang="en-US" sz="8000">
                <a:solidFill>
                  <a:srgbClr val="FF0000"/>
                </a:solidFill>
              </a:rPr>
              <a:t> </a:t>
            </a:r>
            <a:r>
              <a:rPr b="1" lang="en-US" sz="8000">
                <a:solidFill>
                  <a:srgbClr val="FF9933"/>
                </a:solidFill>
              </a:rPr>
              <a:t>EXHIBITOR’S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DIVERSE AFFARI SERVIZI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NFF INDUSTRIAL CORPORATION</a:t>
            </a:r>
            <a:endParaRPr/>
          </a:p>
        </p:txBody>
      </p:sp>
      <p:pic>
        <p:nvPicPr>
          <p:cNvPr id="508" name="Google Shape;508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78459"/>
            <a:ext cx="8229600" cy="2531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488" y="2381545"/>
            <a:ext cx="6633023" cy="2725148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BRIGHTON TECHNOLOGIES CORP.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BETAFOAM CORPORATION</a:t>
            </a:r>
            <a:endParaRPr/>
          </a:p>
        </p:txBody>
      </p:sp>
      <p:pic>
        <p:nvPicPr>
          <p:cNvPr descr="A blue and green logo&#10;&#10;Description automatically generated" id="520" name="Google Shape;52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242" y="1417638"/>
            <a:ext cx="3669515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7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00663"/>
            <a:ext cx="8229600" cy="3486911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ICHISA ENGINEERING (S) PTE LTD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7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520" y="1482307"/>
            <a:ext cx="4986960" cy="45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CROWNSYS CONSULTING INC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TN GROUP CORPORATION PUBLIC COMPANY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7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7029" y="1482307"/>
            <a:ext cx="4669941" cy="45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EAGLE WINGS ENTERPRISES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PRECISION FOUNDRY OF THE PHILIPPINES</a:t>
            </a:r>
            <a:endParaRPr/>
          </a:p>
        </p:txBody>
      </p:sp>
      <p:pic>
        <p:nvPicPr>
          <p:cNvPr id="549" name="Google Shape;549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39185"/>
            <a:ext cx="8229600" cy="2209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15419"/>
            <a:ext cx="82296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GREENLEE FACILITY SOLUTIONS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TRI-GLOBE TRANSPORT SERVICES AND TRADING, INC.</a:t>
            </a:r>
            <a:endParaRPr/>
          </a:p>
        </p:txBody>
      </p:sp>
      <p:pic>
        <p:nvPicPr>
          <p:cNvPr id="561" name="Google Shape;561;p7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1709" l="0" r="0" t="31251"/>
          <a:stretch/>
        </p:blipFill>
        <p:spPr>
          <a:xfrm>
            <a:off x="457200" y="2220038"/>
            <a:ext cx="8229600" cy="3048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8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604" y="2247421"/>
            <a:ext cx="5986791" cy="299339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HIDROMAC PHILIPPINES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25479"/>
            <a:ext cx="8229600" cy="103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8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IGROS MARKETING CORP.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WILHELM CLADDING PHILIPPINES OPC</a:t>
            </a:r>
            <a:endParaRPr/>
          </a:p>
        </p:txBody>
      </p:sp>
      <p:pic>
        <p:nvPicPr>
          <p:cNvPr id="579" name="Google Shape;579;p82" title="image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988" y="2553038"/>
            <a:ext cx="4772025" cy="147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WORTHRAND PETROPOWER CORP.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KRYPTON INTERNATIONAL RESOURCES SALES &amp; SERVICES INC.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MESSE AND HANDEL CORP.</a:t>
            </a:r>
            <a:br>
              <a:rPr lang="en-US"/>
            </a:br>
            <a:endParaRPr/>
          </a:p>
        </p:txBody>
      </p:sp>
      <p:pic>
        <p:nvPicPr>
          <p:cNvPr descr="A blue sign with white text&#10;&#10;Description automatically generated" id="596" name="Google Shape;59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256383"/>
            <a:ext cx="7620000" cy="2345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NDTESTING INSTRUMENTS INC.</a:t>
            </a:r>
            <a:endParaRPr/>
          </a:p>
        </p:txBody>
      </p:sp>
      <p:pic>
        <p:nvPicPr>
          <p:cNvPr descr="A green puzzle piece with black text&#10;&#10;Description automatically generated" id="602" name="Google Shape;60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9440" y="1569720"/>
            <a:ext cx="2865120" cy="3718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GNPOWER</a:t>
            </a:r>
            <a:endParaRPr/>
          </a:p>
        </p:txBody>
      </p:sp>
      <p:pic>
        <p:nvPicPr>
          <p:cNvPr id="608" name="Google Shape;608;p8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239" l="26851" r="29630" t="13352"/>
          <a:stretch/>
        </p:blipFill>
        <p:spPr>
          <a:xfrm>
            <a:off x="1828800" y="1981200"/>
            <a:ext cx="5753100" cy="3182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SUNTECH TECHNOLOGY CORPORATION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THERMA LUZON INC.</a:t>
            </a:r>
            <a:endParaRPr/>
          </a:p>
        </p:txBody>
      </p:sp>
      <p:pic>
        <p:nvPicPr>
          <p:cNvPr descr="A blue text on a black background&#10;&#10;Description automatically generated" id="619" name="Google Shape;619;p8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912757"/>
            <a:ext cx="8229600" cy="166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VM VENTURES</a:t>
            </a:r>
            <a:endParaRPr/>
          </a:p>
        </p:txBody>
      </p:sp>
      <p:pic>
        <p:nvPicPr>
          <p:cNvPr descr="A black text on a white background&#10;&#10;Description automatically generated" id="625" name="Google Shape;625;p9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09" y="2819400"/>
            <a:ext cx="8937491" cy="1340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AVK PHILIPPINES, INC.</a:t>
            </a:r>
            <a:endParaRPr/>
          </a:p>
        </p:txBody>
      </p:sp>
      <p:pic>
        <p:nvPicPr>
          <p:cNvPr descr="A blue and black letter v&#10;&#10;Description automatically generated" id="631" name="Google Shape;63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1704300"/>
            <a:ext cx="7239000" cy="34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LINGTEC INTRUMENTS INC.</a:t>
            </a:r>
            <a:endParaRPr/>
          </a:p>
        </p:txBody>
      </p:sp>
      <p:pic>
        <p:nvPicPr>
          <p:cNvPr descr="A logo for a company&#10;&#10;Description automatically generated" id="637" name="Google Shape;637;p9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1" y="1534318"/>
            <a:ext cx="41148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RBER INDUSTRIAL &amp; TRADING CORP.</a:t>
            </a:r>
            <a:endParaRPr/>
          </a:p>
        </p:txBody>
      </p:sp>
      <p:pic>
        <p:nvPicPr>
          <p:cNvPr descr="A green and white logo&#10;&#10;Description automatically generated" id="643" name="Google Shape;643;p9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MAYER STEEL PIPE CORPORATION</a:t>
            </a:r>
            <a:endParaRPr/>
          </a:p>
        </p:txBody>
      </p:sp>
      <p:pic>
        <p:nvPicPr>
          <p:cNvPr descr="A blue logo with black background&#10;&#10;Description automatically generated" id="649" name="Google Shape;649;p9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0799" y="1481138"/>
            <a:ext cx="5782402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INFRAMACHINERIES CORPORATION</a:t>
            </a:r>
            <a:endParaRPr/>
          </a:p>
        </p:txBody>
      </p:sp>
      <p:pic>
        <p:nvPicPr>
          <p:cNvPr descr="A blue and white logo&#10;&#10;Description automatically generated" id="655" name="Google Shape;655;p9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0661" y="1481138"/>
            <a:ext cx="5342677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BLAISE-SCIENTIFIC TRADING</a:t>
            </a:r>
            <a:endParaRPr/>
          </a:p>
        </p:txBody>
      </p:sp>
      <p:pic>
        <p:nvPicPr>
          <p:cNvPr descr="A close-up of a logo&#10;&#10;Description automatically generated" id="661" name="Google Shape;661;p9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51218"/>
            <a:ext cx="8229600" cy="29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TSUBAKIMOTO PHILIPPINES CORPORATION</a:t>
            </a:r>
            <a:endParaRPr/>
          </a:p>
        </p:txBody>
      </p:sp>
      <p:pic>
        <p:nvPicPr>
          <p:cNvPr descr="A blue and white logo&#10;&#10;Description automatically generated" id="667" name="Google Shape;667;p9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65373"/>
            <a:ext cx="8229600" cy="1757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MTI WATER TECHNOLOGIES, INC. 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SANYO SEIKI STAINLESS STEEL CORP.</a:t>
            </a:r>
            <a:endParaRPr/>
          </a:p>
        </p:txBody>
      </p:sp>
      <p:pic>
        <p:nvPicPr>
          <p:cNvPr descr="A blue and yellow text&#10;&#10;Description automatically generated" id="678" name="Google Shape;678;p9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54886"/>
            <a:ext cx="8229600" cy="177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CYBERMECH SOLUTIONS CO.</a:t>
            </a:r>
            <a:endParaRPr/>
          </a:p>
        </p:txBody>
      </p:sp>
      <p:pic>
        <p:nvPicPr>
          <p:cNvPr id="684" name="Google Shape;684;p100" title="Servo 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839200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AIR RICH INDUSTRIAL SYSTEMS, INC</a:t>
            </a:r>
            <a:endParaRPr/>
          </a:p>
        </p:txBody>
      </p:sp>
      <p:pic>
        <p:nvPicPr>
          <p:cNvPr descr="A circular logo with text&#10;&#10;Description automatically generated" id="690" name="Google Shape;690;p10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019" y="1481138"/>
            <a:ext cx="4525962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0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CYBERNETICS iNSTRUMENTS INC.</a:t>
            </a:r>
            <a:endParaRPr/>
          </a:p>
        </p:txBody>
      </p:sp>
      <p:pic>
        <p:nvPicPr>
          <p:cNvPr descr="A blue and white cloud logo&#10;&#10;Description automatically generated" id="696" name="Google Shape;696;p10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8681" y="1005681"/>
            <a:ext cx="4846637" cy="484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0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DANKETSU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MALERA CONSTRUCTION AND SUPPLY</a:t>
            </a:r>
            <a:endParaRPr/>
          </a:p>
        </p:txBody>
      </p:sp>
      <p:pic>
        <p:nvPicPr>
          <p:cNvPr descr="A logo with text on it&#10;&#10;Description automatically generated" id="707" name="Google Shape;707;p10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41454"/>
            <a:ext cx="8229600" cy="4405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UNI-ALLIANCE CONSULTANTS AND ENGINEERS LTD</a:t>
            </a:r>
            <a:endParaRPr/>
          </a:p>
        </p:txBody>
      </p:sp>
      <p:pic>
        <p:nvPicPr>
          <p:cNvPr descr="A green rectangle with a letter in it&#10;&#10;Description automatically generated" id="713" name="Google Shape;713;p10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423734"/>
            <a:ext cx="4724400" cy="47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0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BEAUCHEM THERMTECH GROUP INC.</a:t>
            </a:r>
            <a:endParaRPr/>
          </a:p>
        </p:txBody>
      </p:sp>
      <p:pic>
        <p:nvPicPr>
          <p:cNvPr descr="A red background with white text and yellow and red circles&#10;&#10;Description automatically generated" id="719" name="Google Shape;71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8360" y="1495107"/>
            <a:ext cx="4907280" cy="4289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FLOWMETRICS INDUSTRIAL SALES INC.</a:t>
            </a:r>
            <a:endParaRPr/>
          </a:p>
        </p:txBody>
      </p:sp>
      <p:pic>
        <p:nvPicPr>
          <p:cNvPr descr="A close-up of a logo&#10;&#10;Description automatically generated" id="725" name="Google Shape;725;p10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692" y="1481138"/>
            <a:ext cx="6034616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0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LAD TRAINING &amp; CERTIFICATION INC.</a:t>
            </a:r>
            <a:endParaRPr/>
          </a:p>
        </p:txBody>
      </p:sp>
      <p:pic>
        <p:nvPicPr>
          <p:cNvPr descr="A close-up of a logo&#10;&#10;Description automatically generated" id="731" name="Google Shape;731;p10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15777"/>
            <a:ext cx="8229600" cy="205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MACROTECH INDUSTRIAL TRADING </a:t>
            </a:r>
            <a:endParaRPr/>
          </a:p>
        </p:txBody>
      </p:sp>
      <p:pic>
        <p:nvPicPr>
          <p:cNvPr descr="A black background with white text&#10;&#10;Description automatically generated" id="737" name="Google Shape;737;p10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30482"/>
            <a:ext cx="8229600" cy="182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BELIMO ASIA PACIFIC Ltd</a:t>
            </a:r>
            <a:endParaRPr/>
          </a:p>
        </p:txBody>
      </p:sp>
      <p:pic>
        <p:nvPicPr>
          <p:cNvPr descr="A black and orange logo&#10;&#10;Description automatically generated" id="743" name="Google Shape;743;p1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99" y="2019300"/>
            <a:ext cx="7518402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SWITCH INDUSTRIAL SALES CORP.</a:t>
            </a:r>
            <a:endParaRPr/>
          </a:p>
        </p:txBody>
      </p:sp>
      <p:pic>
        <p:nvPicPr>
          <p:cNvPr descr="A logo with yellow and blue text&#10;&#10;Description automatically generated" id="749" name="Google Shape;749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264" y="1143000"/>
            <a:ext cx="5487472" cy="51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PUYAT STEEL CORPORATION</a:t>
            </a:r>
            <a:endParaRPr/>
          </a:p>
        </p:txBody>
      </p:sp>
      <p:pic>
        <p:nvPicPr>
          <p:cNvPr descr="A logo for a company&#10;&#10;Description automatically generated" id="755" name="Google Shape;755;p1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102" y="1294380"/>
            <a:ext cx="4622897" cy="495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ckwell"/>
              <a:buNone/>
            </a:pPr>
            <a:r>
              <a:rPr lang="en-US"/>
              <a:t>PERRENE MARKETING SERVICES OPC</a:t>
            </a:r>
            <a:endParaRPr/>
          </a:p>
        </p:txBody>
      </p:sp>
    </p:spTree>
  </p:cSld>
  <p:clrMapOvr>
    <a:masterClrMapping/>
  </p:clrMapOvr>
  <p:transition spd="slow">
    <p:cut thruBlk="1"/>
  </p:transition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AMZEN INDUSTRIES, INC</a:t>
            </a:r>
            <a:endParaRPr/>
          </a:p>
        </p:txBody>
      </p:sp>
      <p:pic>
        <p:nvPicPr>
          <p:cNvPr descr="A blue and black logo&#10;&#10;Description automatically generated" id="766" name="Google Shape;766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413" y="2023869"/>
            <a:ext cx="2487173" cy="2810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TUV SUD PSB Philippines Inc.</a:t>
            </a:r>
            <a:endParaRPr/>
          </a:p>
        </p:txBody>
      </p:sp>
      <p:pic>
        <p:nvPicPr>
          <p:cNvPr id="772" name="Google Shape;772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5567" y="1600200"/>
            <a:ext cx="4072865" cy="3945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 thruBlk="1"/>
  </p:transition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83c451ce6f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Rockwell"/>
              <a:buNone/>
            </a:pPr>
            <a:r>
              <a:rPr lang="en-US"/>
              <a:t>TUV SUD PSB Philippines Inc.</a:t>
            </a:r>
            <a:endParaRPr/>
          </a:p>
        </p:txBody>
      </p:sp>
      <p:pic>
        <p:nvPicPr>
          <p:cNvPr id="778" name="Google Shape;778;g383c451ce6f_0_0" title="Belzona Logo 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00" y="2057750"/>
            <a:ext cx="7804724" cy="360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2012-10-16T07:21:28Z</dcterms:created>
  <dc:creator>HP</dc:creator>
</cp:coreProperties>
</file>